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6" r:id="rId3"/>
    <p:sldId id="260" r:id="rId4"/>
    <p:sldId id="258" r:id="rId5"/>
    <p:sldId id="259" r:id="rId6"/>
    <p:sldId id="264" r:id="rId7"/>
    <p:sldId id="262" r:id="rId8"/>
    <p:sldId id="265" r:id="rId9"/>
    <p:sldId id="270" r:id="rId10"/>
    <p:sldId id="271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34" autoAdjust="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31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59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27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rgbClr val="DA1B22"/>
                </a:solidFill>
                <a:latin typeface="Broadway" panose="04040905080B02020502" pitchFamily="82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715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7957" y="343606"/>
            <a:ext cx="9343479" cy="543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026" y="1389578"/>
            <a:ext cx="11900452" cy="5082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93564"/>
            <a:ext cx="6109252" cy="369332"/>
          </a:xfrm>
          <a:prstGeom prst="rect">
            <a:avLst/>
          </a:prstGeom>
          <a:solidFill>
            <a:srgbClr val="C5C7C9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09252" y="6488668"/>
            <a:ext cx="6082748" cy="369332"/>
          </a:xfrm>
          <a:prstGeom prst="rect">
            <a:avLst/>
          </a:prstGeom>
          <a:solidFill>
            <a:srgbClr val="EC1B23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791" y="172444"/>
            <a:ext cx="1272209" cy="8856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172444"/>
            <a:ext cx="891852" cy="8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4" r:id="rId3"/>
    <p:sldLayoutId id="214748368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1381" y="329184"/>
            <a:ext cx="10058400" cy="3871451"/>
          </a:xfrm>
        </p:spPr>
        <p:txBody>
          <a:bodyPr>
            <a:noAutofit/>
          </a:bodyPr>
          <a:lstStyle/>
          <a:p>
            <a:r>
              <a:rPr lang="en-US" sz="4400" b="1" dirty="0"/>
              <a:t>NEF Innovation Awards 2026</a:t>
            </a:r>
            <a:br>
              <a:rPr lang="en-US" sz="4400" b="1" dirty="0"/>
            </a:br>
            <a:br>
              <a:rPr lang="en-US" sz="4000" dirty="0"/>
            </a:br>
            <a:r>
              <a:rPr lang="en-US" sz="4800" b="1" dirty="0"/>
              <a:t>Business Plan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363" y="3836940"/>
            <a:ext cx="10987087" cy="2182762"/>
          </a:xfrm>
        </p:spPr>
        <p:txBody>
          <a:bodyPr anchor="ctr">
            <a:noAutofit/>
          </a:bodyPr>
          <a:lstStyle/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Project Unique ID: NESIA25_000644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Project Title:</a:t>
            </a:r>
            <a:r>
              <a:rPr lang="en-US" b="1" dirty="0"/>
              <a:t> Automated Heavy Metal Pollution Index (HMPI) Calculator With Interactive Dashboards And Geospatial Mapping</a:t>
            </a:r>
            <a:endParaRPr lang="en-US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chemeClr val="tx1"/>
                </a:solidFill>
              </a:rPr>
              <a:t>Name of the College: Dronacharya College of Engineering 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City and State: Gurugram, Haryana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34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74706"/>
              </p:ext>
            </p:extLst>
          </p:nvPr>
        </p:nvGraphicFramePr>
        <p:xfrm>
          <a:off x="171450" y="1932041"/>
          <a:ext cx="11872915" cy="364284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1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9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407">
                <a:tc>
                  <a:txBody>
                    <a:bodyPr/>
                    <a:lstStyle/>
                    <a:p>
                      <a:pPr algn="ctr" fontAlgn="ctr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Name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Mobile Number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Email Address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Principal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Isha Malhotra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+91 70875 00959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principal@ggnindia.dronacharya.info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Guide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Ritu Pahwa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91+ 9541158333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hodaiml@ggnindia.dronacharya.info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Participant1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Royce Kapoor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91+ 9910180383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roycekapoor.112@gmail.com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Participant 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Lakshit Phougat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91+ 7827727768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lakshit.phougat@gmail.com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Participant 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Saksham Arora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91+ 8766314998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sakshamarora2709@gmail.com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4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Participant 4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Vidushi Anand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91+ 9717049910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vidushianand09@gmail.com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84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Team Composition </a:t>
            </a:r>
          </a:p>
        </p:txBody>
      </p:sp>
    </p:spTree>
    <p:extLst>
      <p:ext uri="{BB962C8B-B14F-4D97-AF65-F5344CB8AC3E}">
        <p14:creationId xmlns:p14="http://schemas.microsoft.com/office/powerpoint/2010/main" val="13336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Slide # 1: What </a:t>
            </a:r>
            <a:r>
              <a:rPr lang="en-US" b="1" dirty="0">
                <a:latin typeface="+mn-lt"/>
              </a:rPr>
              <a:t>p</a:t>
            </a:r>
            <a:r>
              <a:rPr lang="en-US" sz="3200" b="1" dirty="0">
                <a:latin typeface="+mn-lt"/>
              </a:rPr>
              <a:t>roblem we are solving?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A0E4C7-FBDB-CC31-4DB2-0EC969CB656A}"/>
              </a:ext>
            </a:extLst>
          </p:cNvPr>
          <p:cNvGrpSpPr/>
          <p:nvPr/>
        </p:nvGrpSpPr>
        <p:grpSpPr>
          <a:xfrm>
            <a:off x="411480" y="1234440"/>
            <a:ext cx="4855464" cy="3236976"/>
            <a:chOff x="411480" y="1463040"/>
            <a:chExt cx="4855464" cy="323697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F12AB13-A3A5-CE5E-CBCD-53FD4E1E96DA}"/>
                </a:ext>
              </a:extLst>
            </p:cNvPr>
            <p:cNvSpPr/>
            <p:nvPr/>
          </p:nvSpPr>
          <p:spPr>
            <a:xfrm>
              <a:off x="411480" y="1463040"/>
              <a:ext cx="4855464" cy="3236976"/>
            </a:xfrm>
            <a:prstGeom prst="round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sz="2800" dirty="0">
                  <a:solidFill>
                    <a:schemeClr val="tx1"/>
                  </a:solidFill>
                </a:rPr>
                <a:t>  Problem Statement</a:t>
              </a:r>
              <a:endParaRPr lang="en-US" sz="2400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Raw concentration values of Heavy Metals are difficult to interpret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Pollution severity is not clearly quantified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Manual calculations are time-consuming and error-prone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Existing tools lack built-in prediction capabilities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There is no integrated system combining analysis, mapping, and forecasting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624B3FD-3CC7-D06F-B885-7D8E8F62B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48" y="1600200"/>
              <a:ext cx="528828" cy="528828"/>
            </a:xfrm>
            <a:prstGeom prst="rect">
              <a:avLst/>
            </a:prstGeom>
            <a:noFill/>
            <a:ln w="63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C63BEC-0BD4-838F-89D5-B62F55B4019B}"/>
              </a:ext>
            </a:extLst>
          </p:cNvPr>
          <p:cNvSpPr/>
          <p:nvPr/>
        </p:nvSpPr>
        <p:spPr>
          <a:xfrm>
            <a:off x="6096000" y="1234440"/>
            <a:ext cx="4693920" cy="32369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2400" dirty="0">
                <a:solidFill>
                  <a:schemeClr val="tx1"/>
                </a:solidFill>
              </a:rPr>
              <a:t>People being affected by the problem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Researchers – Need faster, repeatable 				    pollution analysis</a:t>
            </a:r>
            <a:endParaRPr lang="en-US" sz="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Environmental agencies – Require clear 				    identification of high-risk 				   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Policy Makers – Spend more time 						processing data than 					generating insights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EB68553-4D06-A5A0-34C0-522E31474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79" y="1371600"/>
            <a:ext cx="643699" cy="64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E39FC7-0F49-A268-C48A-C5D81968FDEA}"/>
              </a:ext>
            </a:extLst>
          </p:cNvPr>
          <p:cNvSpPr txBox="1"/>
          <p:nvPr/>
        </p:nvSpPr>
        <p:spPr>
          <a:xfrm>
            <a:off x="650748" y="4886235"/>
            <a:ext cx="102506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Core GAP:</a:t>
            </a:r>
            <a:endParaRPr lang="en-US" dirty="0"/>
          </a:p>
          <a:p>
            <a:r>
              <a:rPr lang="en-US" dirty="0"/>
              <a:t>A unified platform that automates heavy metal pollution analysis, visualizes results geographically &amp; enables future pollution prediction in a simple, scalable way.</a:t>
            </a:r>
          </a:p>
        </p:txBody>
      </p:sp>
    </p:spTree>
    <p:extLst>
      <p:ext uri="{BB962C8B-B14F-4D97-AF65-F5344CB8AC3E}">
        <p14:creationId xmlns:p14="http://schemas.microsoft.com/office/powerpoint/2010/main" val="339239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Slide # 2: </a:t>
            </a:r>
            <a:r>
              <a:rPr lang="en-US" b="1" dirty="0">
                <a:latin typeface="+mn-lt"/>
              </a:rPr>
              <a:t>T	</a:t>
            </a:r>
            <a:r>
              <a:rPr lang="en-US" sz="3200" b="1" dirty="0">
                <a:latin typeface="+mn-lt"/>
              </a:rPr>
              <a:t>he Solution</a:t>
            </a:r>
          </a:p>
        </p:txBody>
      </p:sp>
      <p:pic>
        <p:nvPicPr>
          <p:cNvPr id="2050" name="Picture 2" descr="edit this image as more presentable for the tittle slide ">
            <a:extLst>
              <a:ext uri="{FF2B5EF4-FFF2-40B4-BE49-F238E27FC236}">
                <a16:creationId xmlns:a16="http://schemas.microsoft.com/office/drawing/2014/main" id="{7FED9926-9A52-85E2-C4ED-164754A73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60" y="1167497"/>
            <a:ext cx="2050193" cy="1144424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C8A73F-72BE-A481-3D31-45E0B6457649}"/>
              </a:ext>
            </a:extLst>
          </p:cNvPr>
          <p:cNvSpPr txBox="1"/>
          <p:nvPr/>
        </p:nvSpPr>
        <p:spPr>
          <a:xfrm>
            <a:off x="2872507" y="964297"/>
            <a:ext cx="79344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AquaScan is a web-based geospatial pollution analysis and prediction platform that automates heavy metal data processing and forecasting through a simple and scalable approach.</a:t>
            </a:r>
          </a:p>
          <a:p>
            <a:r>
              <a:rPr lang="en-US" dirty="0"/>
              <a:t>In Simple Terms…It converts raw heavy metal concentration data into clear pollution levels, visual maps, and future predictions to help researchers and agencies make environmental decisions.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C0A1B-506B-27C1-CA61-FAABC92157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134"/>
          <a:stretch>
            <a:fillRect/>
          </a:stretch>
        </p:blipFill>
        <p:spPr>
          <a:xfrm>
            <a:off x="532860" y="4415609"/>
            <a:ext cx="10446327" cy="227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5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Slide # 3: Customer Profile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D5CE1-26AC-6BA1-3092-ABA35F5CBC4F}"/>
              </a:ext>
            </a:extLst>
          </p:cNvPr>
          <p:cNvSpPr/>
          <p:nvPr/>
        </p:nvSpPr>
        <p:spPr>
          <a:xfrm>
            <a:off x="341751" y="1117601"/>
            <a:ext cx="5421746" cy="28909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Primary Customer</a:t>
            </a:r>
          </a:p>
          <a:p>
            <a:r>
              <a:rPr lang="en-US" dirty="0">
                <a:solidFill>
                  <a:schemeClr val="tx1"/>
                </a:solidFill>
              </a:rPr>
              <a:t>The primary customers are environmental researchers, academic institutions, and government environmental agencies who need accurate, automated heavy metal pollution analysis and forecasting tools.</a:t>
            </a:r>
          </a:p>
          <a:p>
            <a:r>
              <a:rPr lang="en-US" dirty="0">
                <a:solidFill>
                  <a:schemeClr val="tx1"/>
                </a:solidFill>
              </a:rPr>
              <a:t>They face challenges in manual data processing, lack of integrated tools, and absence of predictive environmental insights.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6E3588-4BAF-F272-5300-C48866172BA3}"/>
              </a:ext>
            </a:extLst>
          </p:cNvPr>
          <p:cNvSpPr/>
          <p:nvPr/>
        </p:nvSpPr>
        <p:spPr>
          <a:xfrm>
            <a:off x="5985172" y="1117601"/>
            <a:ext cx="3796145" cy="28909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User Types: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Environmental researchers and scientists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Academic institutions and research labs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Environmental consulting firms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Government and municipal environmental monitoring bodies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9B762E-6F0F-95D2-ED61-98A6FCD78228}"/>
              </a:ext>
            </a:extLst>
          </p:cNvPr>
          <p:cNvSpPr/>
          <p:nvPr/>
        </p:nvSpPr>
        <p:spPr>
          <a:xfrm>
            <a:off x="9973187" y="1089894"/>
            <a:ext cx="1757000" cy="14870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Age Group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25–60 years (professionals and researchers)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1172CA-DF37-3F49-2D44-1242E86E9BD2}"/>
              </a:ext>
            </a:extLst>
          </p:cNvPr>
          <p:cNvSpPr/>
          <p:nvPr/>
        </p:nvSpPr>
        <p:spPr>
          <a:xfrm>
            <a:off x="9973186" y="2715493"/>
            <a:ext cx="1757000" cy="12930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Geography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Regional, national, and international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65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+mn-lt"/>
              </a:rPr>
              <a:t>Slide # 4: Differentiation / Innovation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1C83B3-4F46-8834-4B41-8DD5FB59AC66}"/>
              </a:ext>
            </a:extLst>
          </p:cNvPr>
          <p:cNvSpPr/>
          <p:nvPr/>
        </p:nvSpPr>
        <p:spPr>
          <a:xfrm>
            <a:off x="350982" y="997779"/>
            <a:ext cx="5611107" cy="49134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India-Centric Problem</a:t>
            </a:r>
          </a:p>
          <a:p>
            <a:r>
              <a:rPr lang="en-US" dirty="0">
                <a:solidFill>
                  <a:schemeClr val="tx1"/>
                </a:solidFill>
              </a:rPr>
              <a:t>Rapid industrialization, mining, and agricultural runoff are increasing soil and groundwater contamination. Monitoring agencies lack automated and predictive tools for heavy metal assessment.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Role of AI</a:t>
            </a:r>
          </a:p>
          <a:p>
            <a:r>
              <a:rPr lang="en-US" dirty="0">
                <a:solidFill>
                  <a:schemeClr val="tx1"/>
                </a:solidFill>
              </a:rPr>
              <a:t>AI enables HMPI forecasting, trend detection, and early identification of high-risk zones — transforming monitoring from reactive to proactive.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Data &amp; Real-World Constraints</a:t>
            </a:r>
          </a:p>
          <a:p>
            <a:r>
              <a:rPr lang="en-US" dirty="0">
                <a:solidFill>
                  <a:schemeClr val="tx1"/>
                </a:solidFill>
              </a:rPr>
              <a:t>Designed for structured heavy metal and geospatial datasets, the system handles inconsistent formats and limited historical data common in Indian environmental systems.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218A52-2E3B-B900-6FB2-FC8D1119E947}"/>
              </a:ext>
            </a:extLst>
          </p:cNvPr>
          <p:cNvSpPr/>
          <p:nvPr/>
        </p:nvSpPr>
        <p:spPr>
          <a:xfrm>
            <a:off x="6229911" y="997779"/>
            <a:ext cx="5805071" cy="49134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What Sets Our Approach Apart</a:t>
            </a:r>
          </a:p>
          <a:p>
            <a:r>
              <a:rPr lang="en-US" dirty="0">
                <a:solidFill>
                  <a:schemeClr val="tx1"/>
                </a:solidFill>
              </a:rPr>
              <a:t>Rather than offering only index computation or static reporting, our platform combines automated HMPI calculation, interactive geospatial mapping, and AI-driven forecasting within a single integrated system.</a:t>
            </a:r>
          </a:p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Ease of Adoption &amp; Accessibility</a:t>
            </a:r>
          </a:p>
          <a:p>
            <a:r>
              <a:rPr lang="en-US" dirty="0">
                <a:solidFill>
                  <a:schemeClr val="tx1"/>
                </a:solidFill>
              </a:rPr>
              <a:t>A web-based interface with simple dataset upload requires no advanced statistical expertise, making it accessible to researchers, institutions, and government agencies.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Scalability &amp; National-Level Impact</a:t>
            </a:r>
          </a:p>
          <a:p>
            <a:r>
              <a:rPr lang="en-US" dirty="0">
                <a:solidFill>
                  <a:schemeClr val="tx1"/>
                </a:solidFill>
              </a:rPr>
              <a:t>Designed to scale from small academic datasets to district and state-wide monitoring programs, enabling data-driven environmental governance and proactive early-warning mechanisms.</a:t>
            </a:r>
          </a:p>
        </p:txBody>
      </p:sp>
    </p:spTree>
    <p:extLst>
      <p:ext uri="{BB962C8B-B14F-4D97-AF65-F5344CB8AC3E}">
        <p14:creationId xmlns:p14="http://schemas.microsoft.com/office/powerpoint/2010/main" val="120730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+mn-lt"/>
              </a:rPr>
              <a:t>Slide # 5: Budget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88EFBD-F2A8-7153-1A32-DE9E613123E6}"/>
              </a:ext>
            </a:extLst>
          </p:cNvPr>
          <p:cNvSpPr/>
          <p:nvPr/>
        </p:nvSpPr>
        <p:spPr>
          <a:xfrm>
            <a:off x="1143000" y="1105377"/>
            <a:ext cx="4442692" cy="27247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Development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Built entirely using open-source technologies (Python, Flask, ML libraries)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Developed in-house — no external development expenditure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Modular and scalable architecture to minimize infrastructure overhead.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10A726-9DE0-15BA-6835-77DD63021462}"/>
              </a:ext>
            </a:extLst>
          </p:cNvPr>
          <p:cNvSpPr/>
          <p:nvPr/>
        </p:nvSpPr>
        <p:spPr>
          <a:xfrm>
            <a:off x="5985165" y="1105377"/>
            <a:ext cx="4442692" cy="27247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Initial Setup Cost (One-Time Investment)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Basic cloud hosting configuration: ₹5,000 – ₹10,000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Domain registration &amp; deployment setup: ₹1,000 – ₹2,000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Testing, validation &amp; pilot optimization: ~₹5,000</a:t>
            </a:r>
          </a:p>
          <a:p>
            <a:r>
              <a:rPr lang="en-IN" b="1" dirty="0">
                <a:solidFill>
                  <a:schemeClr val="tx1"/>
                </a:solidFill>
              </a:rPr>
              <a:t>Estimated Total Initial Cost: Under ₹20,000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3E09CD-9192-0B9E-E77D-BA5890255230}"/>
              </a:ext>
            </a:extLst>
          </p:cNvPr>
          <p:cNvSpPr/>
          <p:nvPr/>
        </p:nvSpPr>
        <p:spPr>
          <a:xfrm>
            <a:off x="2579254" y="4257962"/>
            <a:ext cx="6250710" cy="18133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Monthly Operating Cost (Pilot Phase)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Cloud hosting &amp; compute resources: ₹3,000 – ₹6,000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 forecasting compute (moderate usage): ₹1,000 – ₹3,000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 storage &amp; system maintenance: ₹500 – ₹1,000</a:t>
            </a:r>
          </a:p>
          <a:p>
            <a:r>
              <a:rPr lang="en-IN" b="1" dirty="0">
                <a:solidFill>
                  <a:schemeClr val="tx1"/>
                </a:solidFill>
              </a:rPr>
              <a:t>Estimated Monthly Operational Cost: ₹5,000 – ₹10,000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9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+mn-lt"/>
              </a:rPr>
              <a:t>Slide # 6: Revenue Generation (Freemium Model)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CCD831-E7FF-29CA-E511-53879CFD9354}"/>
              </a:ext>
            </a:extLst>
          </p:cNvPr>
          <p:cNvSpPr/>
          <p:nvPr/>
        </p:nvSpPr>
        <p:spPr>
          <a:xfrm>
            <a:off x="535708" y="1263774"/>
            <a:ext cx="4572001" cy="1754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Free Features (Open Access)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HMPI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Risk classification (Safe / Moderate / High)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Interactive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Geospatial map visualization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08B93B-B1DF-298D-F911-0D296093D77F}"/>
              </a:ext>
            </a:extLst>
          </p:cNvPr>
          <p:cNvSpPr/>
          <p:nvPr/>
        </p:nvSpPr>
        <p:spPr>
          <a:xfrm>
            <a:off x="7167419" y="1263774"/>
            <a:ext cx="4488873" cy="17549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Premium AI Features (Token-Based Access)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Future HMPI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AI-based trend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Time-series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Downloadable AI-based analytical reports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F5FD420-A525-69CF-5FF5-28479385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872" y="1527299"/>
            <a:ext cx="1491384" cy="149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157D29-6267-4E07-511C-04F496217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525726"/>
              </p:ext>
            </p:extLst>
          </p:nvPr>
        </p:nvGraphicFramePr>
        <p:xfrm>
          <a:off x="5599693" y="3839318"/>
          <a:ext cx="6195144" cy="2219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8859">
                  <a:extLst>
                    <a:ext uri="{9D8B030D-6E8A-4147-A177-3AD203B41FA5}">
                      <a16:colId xmlns:a16="http://schemas.microsoft.com/office/drawing/2014/main" val="1999051882"/>
                    </a:ext>
                  </a:extLst>
                </a:gridCol>
                <a:gridCol w="1210430">
                  <a:extLst>
                    <a:ext uri="{9D8B030D-6E8A-4147-A177-3AD203B41FA5}">
                      <a16:colId xmlns:a16="http://schemas.microsoft.com/office/drawing/2014/main" val="612295274"/>
                    </a:ext>
                  </a:extLst>
                </a:gridCol>
                <a:gridCol w="1274619">
                  <a:extLst>
                    <a:ext uri="{9D8B030D-6E8A-4147-A177-3AD203B41FA5}">
                      <a16:colId xmlns:a16="http://schemas.microsoft.com/office/drawing/2014/main" val="2647039239"/>
                    </a:ext>
                  </a:extLst>
                </a:gridCol>
                <a:gridCol w="2041236">
                  <a:extLst>
                    <a:ext uri="{9D8B030D-6E8A-4147-A177-3AD203B41FA5}">
                      <a16:colId xmlns:a16="http://schemas.microsoft.com/office/drawing/2014/main" val="3253829915"/>
                    </a:ext>
                  </a:extLst>
                </a:gridCol>
              </a:tblGrid>
              <a:tr h="385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Cost per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2948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₹9.98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46688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₹1,299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₹8.66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128551"/>
                  </a:ext>
                </a:extLst>
              </a:tr>
              <a:tr h="38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Institutional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981678"/>
                  </a:ext>
                </a:extLst>
              </a:tr>
              <a:tr h="675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Government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Negotiated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 bulk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4734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C2F9D91-29DB-5A76-B6E8-C44D54D85DBF}"/>
              </a:ext>
            </a:extLst>
          </p:cNvPr>
          <p:cNvSpPr txBox="1"/>
          <p:nvPr/>
        </p:nvSpPr>
        <p:spPr>
          <a:xfrm>
            <a:off x="7379855" y="3377653"/>
            <a:ext cx="4276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920E84-601F-C2BD-3A1D-A36EBAE3720A}"/>
              </a:ext>
            </a:extLst>
          </p:cNvPr>
          <p:cNvSpPr/>
          <p:nvPr/>
        </p:nvSpPr>
        <p:spPr>
          <a:xfrm>
            <a:off x="535707" y="3195782"/>
            <a:ext cx="4572001" cy="32142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How Will Token System work?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AI-powered forecasting and predictive analytics are available through a token-based system. Users can purchase tokens and then access these features. The number of tokens required is automatically determined based on the size of the uploaded dataset. This ensures a transparent, usage-based pricing approach aligned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4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+mn-lt"/>
              </a:rPr>
              <a:t>Slide # 8: Market Study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FFF5621-9199-52FC-6C96-7F0518FCE4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" t="25209" r="14646" b="16131"/>
          <a:stretch>
            <a:fillRect/>
          </a:stretch>
        </p:blipFill>
        <p:spPr bwMode="auto">
          <a:xfrm>
            <a:off x="5747910" y="2029553"/>
            <a:ext cx="6102345" cy="279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6E9FF5-38F9-5545-FF63-10AC47B37DC3}"/>
              </a:ext>
            </a:extLst>
          </p:cNvPr>
          <p:cNvSpPr/>
          <p:nvPr/>
        </p:nvSpPr>
        <p:spPr>
          <a:xfrm>
            <a:off x="263238" y="1490746"/>
            <a:ext cx="5292436" cy="38765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What Other Solutions Exist Today?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Excel / Manual HMPI Calculations – Time-consuming and error-prone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GIS Software (ArcGIS, QGIS) – Provides mapping but no built-in HMPI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Statistical Tools (R, MATLAB, SPSS) – Powerful but require technical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Research Publications &amp; Static Reports – Provide historical data, not real-time or predictive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Environmental Consulting Services – Expensive and not scalable for repeated analysis</a:t>
            </a:r>
          </a:p>
        </p:txBody>
      </p:sp>
    </p:spTree>
    <p:extLst>
      <p:ext uri="{BB962C8B-B14F-4D97-AF65-F5344CB8AC3E}">
        <p14:creationId xmlns:p14="http://schemas.microsoft.com/office/powerpoint/2010/main" val="406673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+mn-lt"/>
              </a:rPr>
              <a:t>Video of Prototype or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Time Limit maximum 1 minutes</a:t>
            </a:r>
          </a:p>
        </p:txBody>
      </p:sp>
    </p:spTree>
    <p:extLst>
      <p:ext uri="{BB962C8B-B14F-4D97-AF65-F5344CB8AC3E}">
        <p14:creationId xmlns:p14="http://schemas.microsoft.com/office/powerpoint/2010/main" val="357113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82993180"/>
      </p:ext>
    </p:extLst>
  </p:cSld>
  <p:clrMapOvr>
    <a:masterClrMapping/>
  </p:clrMapOvr>
</p:sld>
</file>

<file path=ppt/theme/theme1.xml><?xml version="1.0" encoding="utf-8"?>
<a:theme xmlns:a="http://schemas.openxmlformats.org/drawingml/2006/main" name="GTT Powerpoin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T Powerpoint Template" id="{7533ED02-DDF4-45BA-9F14-0953E7E3AECB}" vid="{A389A607-458B-48E0-8BFB-61BEB84A93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GTT Powerpoint Template</Template>
  <TotalTime>4664</TotalTime>
  <Words>985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Broadway</vt:lpstr>
      <vt:lpstr>Calibri</vt:lpstr>
      <vt:lpstr>Calibri Light</vt:lpstr>
      <vt:lpstr>GTT Powerpoint Template</vt:lpstr>
      <vt:lpstr>NEF Innovation Awards 2026  Business Plan Template</vt:lpstr>
      <vt:lpstr>PowerPoint Presentation</vt:lpstr>
      <vt:lpstr>Team Composition </vt:lpstr>
      <vt:lpstr>Slide # 1: What problem we are solving?</vt:lpstr>
      <vt:lpstr>Slide # 2: T he Solution</vt:lpstr>
      <vt:lpstr>Slide # 3: Customer Profile</vt:lpstr>
      <vt:lpstr>Slide # 4: Differentiation / Innovation </vt:lpstr>
      <vt:lpstr>Slide # 5: Budget</vt:lpstr>
      <vt:lpstr>Slide # 6: Revenue Generation (Freemium Model) </vt:lpstr>
      <vt:lpstr>Slide # 8: Market Study</vt:lpstr>
      <vt:lpstr>Video of Prototype or Application</vt:lpstr>
      <vt:lpstr>Thank You</vt:lpstr>
    </vt:vector>
  </TitlesOfParts>
  <Company>Relinfo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to NES Award</dc:title>
  <dc:creator>Amey Mashelkar</dc:creator>
  <cp:lastModifiedBy>Royce Kapoor</cp:lastModifiedBy>
  <cp:revision>51</cp:revision>
  <dcterms:created xsi:type="dcterms:W3CDTF">2015-04-10T11:43:30Z</dcterms:created>
  <dcterms:modified xsi:type="dcterms:W3CDTF">2026-02-12T17:08:44Z</dcterms:modified>
</cp:coreProperties>
</file>